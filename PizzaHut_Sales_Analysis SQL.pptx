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51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22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9326F2B-904F-700B-8B41-D5F669B15F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3"/>
          <p:cNvSpPr txBox="1"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 ANALYTICS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PizzaHut Sales Analysis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1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order trends, revenue drivers, and growth opportunities from 21,350+ orders using SQL.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1280160" cy="0"/>
          </a:xfrm>
          <a:prstGeom prst="line">
            <a:avLst/>
          </a:prstGeom>
          <a:noFill/>
          <a:ln w="38100">
            <a:solidFill>
              <a:srgbClr val="6B8E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Alfisha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B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MySQL Workbench   |   Dataset: PizzaHut Orders (2015)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0DD7E49-0882-798A-6E23-7C2D5DC7B6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822960"/>
          </a:xfrm>
          <a:prstGeom prst="roundRect">
            <a:avLst>
              <a:gd name="adj" fmla="val 777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8366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105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396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dataset, and tools used for the analysis.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515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93522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86207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Order Metrics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1912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SQL queries covering revenue, orders, menu, and timing.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840480"/>
            <a:ext cx="10515600" cy="822960"/>
          </a:xfrm>
          <a:prstGeom prst="roundRect">
            <a:avLst>
              <a:gd name="adj" fmla="val 777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98678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913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24281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reveal about customer behaviour.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10515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503834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038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9651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52943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actions to grow sales.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68B2E77E-5037-CEF6-6966-7FE219A438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309360" cy="4937760"/>
          </a:xfrm>
          <a:prstGeom prst="roundRect">
            <a:avLst>
              <a:gd name="adj" fmla="val 1481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157984"/>
            <a:ext cx="128016" cy="128016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0299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225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order date &amp; time — one row per order.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163824"/>
            <a:ext cx="128016" cy="128016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035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order_detail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284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linking orders to pizzas and quantities.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169664"/>
            <a:ext cx="128016" cy="128016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0416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342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ID, size, price, and its pizza type.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5175504"/>
            <a:ext cx="128016" cy="128016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50474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pizza_types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340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name, category (Classic/Chicken/Supreme/Veggie), ingredients.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1463040"/>
            <a:ext cx="4782312" cy="4937760"/>
          </a:xfrm>
          <a:prstGeom prst="roundRect">
            <a:avLst>
              <a:gd name="adj" fmla="val 153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1488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Joined orders, order details, pizzas &amp; pizza types tables in MySQL Workbench.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0449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Wrote 13 SQL queries — aggregations, joins, subqueries &amp; window functions.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94106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Analyzed order volume, revenue, menu performance, and time-of-day trends.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83717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Translated results into insights and sales recommendations.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AFC92F3-5397-1C09-0ACA-206617702E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osiaicBubbl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total number of orders placed?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3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14745"/>
            <a:ext cx="6263640" cy="28172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788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21,350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9319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Placed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457200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order volume recorded across the dataset — the base figure for every other metric in this analysis.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A88F5EC-A103-0530-4BAA-4BE790A234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total revenue generated from pizza sales?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56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15285"/>
            <a:ext cx="6263640" cy="38161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788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$817,860.05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9319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457200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 from every pizza sold, calculated as quantity × price across all order line items.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B7AF289-6ED5-11DA-A363-ABF98F5F8C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the highest-priced pizza on the menu?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4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56687"/>
            <a:ext cx="6263640" cy="37333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788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$35.95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9319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Greek Pizza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457200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item on the menu — a useful anchor point for premium-tier pricing and upsell strategy.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C3BD8D-EEDD-9B90-0737-2F4E8C4D0F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most commonly ordered pizza size?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0" y="1920240"/>
            <a:ext cx="624312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788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18,526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9319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(L) — Most Ordered Size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457200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pizzas were ordered far more often than any other size, making them the clear customer favourite.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B7DF125-C5F5-2AAA-CD33-4E2408E6FE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are the top 5 most ordered pizza types by quantity?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66" y="1920240"/>
            <a:ext cx="5658707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Deluxe Pizza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58875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2,453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724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Barbecue Chicken Pizza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2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2,432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662672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3255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Hawaiian Pizza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588752" y="3255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2,422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662672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74152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Pepperoni Pizza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588752" y="3785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2,418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662672" y="43159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74152" y="4315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Thai Chicken Pizza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0588752" y="4315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2,371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662672" y="49834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pizzas together account for a large share of total volume — strong candidates for permanent menu features.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B952C37A-1CED-FB58-2866-9FE1D6C9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total quantity ordered for each pizza category?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6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91783"/>
            <a:ext cx="6263640" cy="3463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58875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14,888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724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2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11,987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662672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3255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Veggie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588752" y="3255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11,649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662672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74152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588752" y="3785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11,050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662672" y="4453128"/>
            <a:ext cx="37947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leads comfortably in units sold, with the other three categories fairly close together.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D7E22A9-B764-25AA-F603-1AF8035396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orders distributed across different hours of the day?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8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1920240"/>
            <a:ext cx="5468112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 (peak lunch)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58875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2,520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724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2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2,455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662672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3255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 (dinner rush)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588752" y="3255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2,399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662672" y="3922776"/>
            <a:ext cx="379476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ramp up sharply from 11 AM, stay high through the afternoon and evening, then fall off after 9 PM.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F11320F-047F-9015-AFFE-7E1CB64F92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pizzas distributed across categories on the menu?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571625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menu categories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962400"/>
            <a:ext cx="3828288" cy="2346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is organised into four categories — Classic, Chicken, Supreme, and Veggie — giving customers balanced variety across pizza styles rather than concentrating choice in one type.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642B5C-86F2-D046-613A-EDEDEF6DD4F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292" y="1949336"/>
            <a:ext cx="5644655" cy="4114800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CE195A1D-8B63-9695-E932-BD8FD3217808}"/>
              </a:ext>
            </a:extLst>
          </p:cNvPr>
          <p:cNvSpPr txBox="1"/>
          <p:nvPr/>
        </p:nvSpPr>
        <p:spPr>
          <a:xfrm>
            <a:off x="7703700" y="342900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 Classic                                                                8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AE92BDEA-CB60-6E68-C8FC-4028DF5E114B}"/>
              </a:ext>
            </a:extLst>
          </p:cNvPr>
          <p:cNvSpPr txBox="1"/>
          <p:nvPr/>
        </p:nvSpPr>
        <p:spPr>
          <a:xfrm>
            <a:off x="7716132" y="387096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 Chicken                                                               6</a:t>
            </a: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FFE2FF76-13C0-A8A2-C847-C58026A80218}"/>
              </a:ext>
            </a:extLst>
          </p:cNvPr>
          <p:cNvSpPr txBox="1"/>
          <p:nvPr/>
        </p:nvSpPr>
        <p:spPr>
          <a:xfrm>
            <a:off x="7703700" y="289179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 Veggie                                                                9</a:t>
            </a: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59DA090-5C23-51D5-DE6A-C1D0E328FAB9}"/>
              </a:ext>
            </a:extLst>
          </p:cNvPr>
          <p:cNvSpPr txBox="1"/>
          <p:nvPr/>
        </p:nvSpPr>
        <p:spPr>
          <a:xfrm>
            <a:off x="7662672" y="238125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                                                        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202DF0D-A3D6-C256-2FD0-6B6BA42D46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average number of pizzas ordered per day?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49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71583"/>
            <a:ext cx="6263640" cy="3303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788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9319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Pizzas Sold / Day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62672" y="457200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daily baseline that's useful for staffing, ingredient prep, and inventory planning.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0D3C41C-643B-0A3D-ED82-FD26FF8B8B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are the top 3 pizza types by revenue?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5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86" y="1920240"/>
            <a:ext cx="5544868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Thai Chicken Pizza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58875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$43,434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724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Barbecue Chicken Pizza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2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$42,768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662672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3255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California Chicken Pizza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588752" y="3255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$41,410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662672" y="3922776"/>
            <a:ext cx="379476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chicken pizzas generate the most revenue per pizza sold, despite Classic leading on unit volume.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D7C905A-0575-5748-88AF-0A6544BCFC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pizza types generate the top revenue within their category?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55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40221"/>
            <a:ext cx="6263640" cy="25662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Chicken pizzas 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dominate the revenue leaderboard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246120"/>
            <a:ext cx="3794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highest revenue-generating pizzas overall — Thai Chicken, Barbecue Chicken, and California Chicken — all fall within the Chicken category, confirming it as the brand's premium revenue driver.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689ED5C-32BA-58F1-9A18-42870EEE03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percentage does each category contribute to total revenue?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51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54" y="1920240"/>
            <a:ext cx="582733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58875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26.91%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2724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2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25.46%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662672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3255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588752" y="32552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23.96%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662672" y="37856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74152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Veggie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588752" y="3785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23.68%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662672" y="4453128"/>
            <a:ext cx="37947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well balanced across all four categories — no single category dominates, which lowers menu risk.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B02246-EBAA-1F65-B332-F79BDD65F4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cumulative revenue grow over time?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720840" cy="4983480"/>
          </a:xfrm>
          <a:prstGeom prst="roundRect">
            <a:avLst>
              <a:gd name="adj" fmla="val 1468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&amp; RESULT</a:t>
            </a:r>
            <a:endParaRPr lang="en-US" sz="1100" dirty="0"/>
          </a:p>
        </p:txBody>
      </p:sp>
      <p:pic>
        <p:nvPicPr>
          <p:cNvPr id="7" name="Image 0" descr="/home/claude/pizzahut_ppt/img/Screenshot_2026-09-05_1354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39926"/>
            <a:ext cx="6263640" cy="41668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1417320"/>
            <a:ext cx="4343400" cy="4983480"/>
          </a:xfrm>
          <a:prstGeom prst="roundRect">
            <a:avLst>
              <a:gd name="adj" fmla="val 1684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62672" y="1645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21945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Steady, consistent growth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662672" y="3246120"/>
            <a:ext cx="3794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C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climbed from $2,713.85 on day one past $34,000 by mid-January, with no sharp drops — indicating stable daily demand and no major seasonal disruption in the sampled period.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FB8DCCCD-8F9A-2A3E-B09A-8CBEA21C15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3657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2F2119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109728" cy="1097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average order value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0848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 orders generated $817,860 in revenue — an average of roughly $38 per order.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2F2119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83080"/>
            <a:ext cx="109728" cy="1097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is 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0848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18,526 orders were for Large pizzas, making it by far the most popular size on the menu.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2F2119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429000"/>
            <a:ext cx="109728" cy="1097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wins on volume, Chicken wins on value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307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leads in units sold (14,888), but Thai, Barbecue &amp; California Chicken pizzas top the revenue chart.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200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2F2119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429000"/>
            <a:ext cx="109728" cy="1097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daily rush windows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307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peak at 12–1 PM and again at 6 PM, then drop sharply after 9 PM.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2F2119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074920"/>
            <a:ext cx="109728" cy="1097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983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category mix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3766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is close across all categories (23.7%–26.9%) — no single category the brand over-relies 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48463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2F2119"/>
          </a:solidFill>
          <a:ln w="12700">
            <a:solidFill>
              <a:srgbClr val="4A3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5074920"/>
            <a:ext cx="109728" cy="1097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983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daily demand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3766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of 138 pizzas sold per day with steady, consistent cumulative revenue growth.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3F25629-3273-907C-05C1-21D5757C98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17"/>
                </a:solidFill>
                <a:highlight>
                  <a:srgbClr val="C0C0C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to Improve Sales</a:t>
            </a:r>
            <a:endParaRPr lang="en-US" sz="2600" dirty="0">
              <a:highlight>
                <a:srgbClr val="C0C0C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around Large pizzas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848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Large-size combos and prompt Medium buyers to size up, since Large already drives the highest order count.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8308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chicken specialties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0848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Thai, Barbecue &amp; California Chicken pizzas — they earn the most revenue per pizza sold.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4290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37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lunch &amp; dinner rush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7307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time-boxed offers at 12–1 PM and 6 PM to capture peak demand, and staff up around these windows.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080760" y="3200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4290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337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Revive the slow hours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7307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discounts or combo deals in the 9–11 AM and post-9 PM windows to smooth out demand.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07492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983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inventory around ~138/day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3766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daily average as a baseline for dough, topping, and staffing forecasts to cut waste.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080760" y="48463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7F1E7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507492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983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the Veggie line-up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53766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Veggie trails other categories slightly — test new recipes or limited-time offers to lift its share.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PIZZAHUT SALES ANALYSIS  |  MySQL PROJECT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4AF62F-538B-EC6D-9D22-217AC0A9F9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7B241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7B241C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5303520"/>
            <a:ext cx="1371600" cy="1371600"/>
          </a:xfrm>
          <a:prstGeom prst="ellipse">
            <a:avLst/>
          </a:prstGeom>
          <a:solidFill>
            <a:srgbClr val="6B8E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B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—  PizzaHut Sales Analysis (MySQL Project)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1319</Words>
  <Application>Microsoft Office PowerPoint</Application>
  <PresentationFormat>Widescreen</PresentationFormat>
  <Paragraphs>263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mandakini.associates@gmail.com</cp:lastModifiedBy>
  <cp:revision>2</cp:revision>
  <dcterms:created xsi:type="dcterms:W3CDTF">2026-09-05T08:38:05Z</dcterms:created>
  <dcterms:modified xsi:type="dcterms:W3CDTF">2026-09-05T11:39:32Z</dcterms:modified>
</cp:coreProperties>
</file>